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8PTN0riKK2tYPPU+zzBR1BFhy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g3f3a4dbaf43_0_8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" name="Google Shape;10;g3f3a4dbaf43_0_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f3a4dbaf43_0_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" name="Google Shape;15;g3f3a4dbaf43_0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f3a4dbaf43_0_1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" name="Google Shape;20;g3f3a4dbaf43_0_1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[Persona 1 · ~3:15–4:15]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solución se separa en tres responsabilidades. El collar mide cada 5 s y transmite por LoRa. La base escucha, mide la calidad del enlace (RSSI/SNR) y la agrega a la línea. Por USB entra a la PC: Python lee el serie y publica en MQTT; Node-RED evalúa reglas y guarda en InfluxDB; Grafana muestra todo. El pegamento es un contrato de datos común, lo que permite cambiar hardware por simulación sin tocar la app.</a:t>
            </a:r>
            <a:endParaRPr/>
          </a:p>
        </p:txBody>
      </p:sp>
      <p:sp>
        <p:nvSpPr>
          <p:cNvPr id="26" name="Google Shape;2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3a4dbaf43_72_3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3a4dbaf43_72_3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3a4dbaf43_72_36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3a4dbaf43_72_3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[Persona 2 · ~6:30–7:45]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Dos placas. El collar es una Heltec WiFi LoRa 32 V3 (ESP32-S3 con radio SX1262). La base es una LoRa32u4 (ATmega32u4 con SX1276). Señalar en naranja las tres filas de sensores simulados. Mostrar la foto real del hardware que usamos.</a:t>
            </a:r>
            <a:endParaRPr/>
          </a:p>
        </p:txBody>
      </p:sp>
      <p:sp>
        <p:nvSpPr>
          <p:cNvPr id="69" name="Google Shape;6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3a4dbaf43_72_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3a4dbaf43_72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3a4dbaf43_72_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3a4dbaf43_72_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3a4dbaf43_72_2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f3a4dbaf43_72_2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3a4dbaf43_72_16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3a4dbaf43_72_1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[Persona 3 · ~13:30–14:15]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Dos capturas reales del tablero. Izquierda, estado normal: dentro de la geocerca (19 m) y 38,3 °C → ANIMAL OK. Derecha, tras cruzar la zona (799 m) y con fiebre (40,5 °C) → EN ALERTA, y en los gráficos se ve el momento exacto del cruce de cada umbral. El enlace fue estable: RSSI ~−79 dBm, SNR 9–14 dB.</a:t>
            </a:r>
            <a:endParaRPr/>
          </a:p>
        </p:txBody>
      </p:sp>
      <p:sp>
        <p:nvSpPr>
          <p:cNvPr id="137" name="Google Shape;137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3a4dbaf43_72_2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3a4dbaf43_72_2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3a4dbaf43_72_28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3a4dbaf43_72_2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Relationship Id="rId4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jorar como imagen" id="12" name="Google Shape;12;g3f3a4dbaf43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jorar como imagen" id="17" name="Google Shape;17;g3f3a4dbaf4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jorar como imagen" id="22" name="Google Shape;22;g3f3a4dbaf43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11045952" y="6428232"/>
            <a:ext cx="822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06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3606B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12648" y="320040"/>
            <a:ext cx="10972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3D8DFF"/>
                </a:solidFill>
                <a:latin typeface="Calibri"/>
                <a:ea typeface="Calibri"/>
                <a:cs typeface="Calibri"/>
                <a:sym typeface="Calibri"/>
              </a:rPr>
              <a:t>ARQUITECTURA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612648" y="658368"/>
            <a:ext cx="10972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101820"/>
                </a:solidFill>
                <a:latin typeface="Calibri"/>
                <a:ea typeface="Calibri"/>
                <a:cs typeface="Calibri"/>
                <a:sym typeface="Calibri"/>
              </a:rPr>
              <a:t>Tres capas: adquisición, transporte y aplicación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;p4"/>
          <p:cNvCxnSpPr/>
          <p:nvPr/>
        </p:nvCxnSpPr>
        <p:spPr>
          <a:xfrm>
            <a:off x="612648" y="1536192"/>
            <a:ext cx="10972800" cy="0"/>
          </a:xfrm>
          <a:prstGeom prst="straightConnector1">
            <a:avLst/>
          </a:prstGeom>
          <a:noFill/>
          <a:ln cap="flat" cmpd="sng" w="12700">
            <a:solidFill>
              <a:srgbClr val="B8C1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4"/>
          <p:cNvSpPr/>
          <p:nvPr/>
        </p:nvSpPr>
        <p:spPr>
          <a:xfrm>
            <a:off x="612648" y="2148840"/>
            <a:ext cx="1874400" cy="1920300"/>
          </a:xfrm>
          <a:prstGeom prst="roundRect">
            <a:avLst>
              <a:gd fmla="val 3902" name="adj"/>
            </a:avLst>
          </a:prstGeom>
          <a:solidFill>
            <a:srgbClr val="DDF4FD"/>
          </a:solidFill>
          <a:ln cap="flat" cmpd="sng" w="9525">
            <a:solidFill>
              <a:srgbClr val="B8C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758952" y="2295144"/>
            <a:ext cx="158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3D8DFF"/>
                </a:solidFill>
                <a:latin typeface="Calibri"/>
                <a:ea typeface="Calibri"/>
                <a:cs typeface="Calibri"/>
                <a:sym typeface="Calibri"/>
              </a:rPr>
              <a:t>COLLAR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758952" y="2606040"/>
            <a:ext cx="1581900" cy="13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01820"/>
                </a:solidFill>
                <a:latin typeface="Calibri"/>
                <a:ea typeface="Calibri"/>
                <a:cs typeface="Calibri"/>
                <a:sym typeface="Calibri"/>
              </a:rPr>
              <a:t>Heltec V3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01820"/>
                </a:solidFill>
                <a:latin typeface="Calibri"/>
                <a:ea typeface="Calibri"/>
                <a:cs typeface="Calibri"/>
                <a:sym typeface="Calibri"/>
              </a:rPr>
              <a:t>mide y arma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01820"/>
                </a:solidFill>
                <a:latin typeface="Calibri"/>
                <a:ea typeface="Calibri"/>
                <a:cs typeface="Calibri"/>
                <a:sym typeface="Calibri"/>
              </a:rPr>
              <a:t>la trama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2468880" y="2788920"/>
            <a:ext cx="329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3D8D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2779776" y="2148840"/>
            <a:ext cx="1874400" cy="1920300"/>
          </a:xfrm>
          <a:prstGeom prst="roundRect">
            <a:avLst>
              <a:gd fmla="val 3902" name="adj"/>
            </a:avLst>
          </a:prstGeom>
          <a:solidFill>
            <a:srgbClr val="EDF1F3"/>
          </a:solidFill>
          <a:ln cap="flat" cmpd="sng" w="9525">
            <a:solidFill>
              <a:srgbClr val="B8C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2926080" y="2295144"/>
            <a:ext cx="158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3D8DFF"/>
                </a:solidFill>
                <a:latin typeface="Calibri"/>
                <a:ea typeface="Calibri"/>
                <a:cs typeface="Calibri"/>
                <a:sym typeface="Calibri"/>
              </a:rPr>
              <a:t>BASE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2926080" y="2606040"/>
            <a:ext cx="1581900" cy="13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01820"/>
                </a:solidFill>
                <a:latin typeface="Calibri"/>
                <a:ea typeface="Calibri"/>
                <a:cs typeface="Calibri"/>
                <a:sym typeface="Calibri"/>
              </a:rPr>
              <a:t>LoRa32u4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01820"/>
                </a:solidFill>
                <a:latin typeface="Calibri"/>
                <a:ea typeface="Calibri"/>
                <a:cs typeface="Calibri"/>
                <a:sym typeface="Calibri"/>
              </a:rPr>
              <a:t>recibe y suma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01820"/>
                </a:solidFill>
                <a:latin typeface="Calibri"/>
                <a:ea typeface="Calibri"/>
                <a:cs typeface="Calibri"/>
                <a:sym typeface="Calibri"/>
              </a:rPr>
              <a:t>RSSI/SNR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636008" y="2788920"/>
            <a:ext cx="329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3D8D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946904" y="2148840"/>
            <a:ext cx="1874400" cy="1920300"/>
          </a:xfrm>
          <a:prstGeom prst="roundRect">
            <a:avLst>
              <a:gd fmla="val 3902" name="adj"/>
            </a:avLst>
          </a:prstGeom>
          <a:solidFill>
            <a:srgbClr val="EDF1F3"/>
          </a:solidFill>
          <a:ln cap="flat" cmpd="sng" w="9525">
            <a:solidFill>
              <a:srgbClr val="B8C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5093208" y="2295144"/>
            <a:ext cx="158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3D8DFF"/>
                </a:solidFill>
                <a:latin typeface="Calibri"/>
                <a:ea typeface="Calibri"/>
                <a:cs typeface="Calibri"/>
                <a:sym typeface="Calibri"/>
              </a:rPr>
              <a:t>PUENTE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093208" y="2606040"/>
            <a:ext cx="1581900" cy="13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01820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01820"/>
                </a:solidFill>
                <a:latin typeface="Calibri"/>
                <a:ea typeface="Calibri"/>
                <a:cs typeface="Calibri"/>
                <a:sym typeface="Calibri"/>
              </a:rPr>
              <a:t>lee serie →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01820"/>
                </a:solidFill>
                <a:latin typeface="Calibri"/>
                <a:ea typeface="Calibri"/>
                <a:cs typeface="Calibri"/>
                <a:sym typeface="Calibri"/>
              </a:rPr>
              <a:t>publica MQTT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803136" y="2788920"/>
            <a:ext cx="329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3D8D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114032" y="2148840"/>
            <a:ext cx="1874400" cy="1920300"/>
          </a:xfrm>
          <a:prstGeom prst="roundRect">
            <a:avLst>
              <a:gd fmla="val 3902" name="adj"/>
            </a:avLst>
          </a:prstGeom>
          <a:solidFill>
            <a:srgbClr val="EDF1F3"/>
          </a:solidFill>
          <a:ln cap="flat" cmpd="sng" w="9525">
            <a:solidFill>
              <a:srgbClr val="B8C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7260336" y="2295144"/>
            <a:ext cx="158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3D8DFF"/>
                </a:solidFill>
                <a:latin typeface="Calibri"/>
                <a:ea typeface="Calibri"/>
                <a:cs typeface="Calibri"/>
                <a:sym typeface="Calibri"/>
              </a:rPr>
              <a:t>PROCESO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7260336" y="2606040"/>
            <a:ext cx="1581900" cy="13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01820"/>
                </a:solidFill>
                <a:latin typeface="Calibri"/>
                <a:ea typeface="Calibri"/>
                <a:cs typeface="Calibri"/>
                <a:sym typeface="Calibri"/>
              </a:rPr>
              <a:t>Node-RED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01820"/>
                </a:solidFill>
                <a:latin typeface="Calibri"/>
                <a:ea typeface="Calibri"/>
                <a:cs typeface="Calibri"/>
                <a:sym typeface="Calibri"/>
              </a:rPr>
              <a:t>reglas +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01820"/>
                </a:solidFill>
                <a:latin typeface="Calibri"/>
                <a:ea typeface="Calibri"/>
                <a:cs typeface="Calibri"/>
                <a:sym typeface="Calibri"/>
              </a:rPr>
              <a:t>InfluxDB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8970264" y="2788920"/>
            <a:ext cx="329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3D8D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9281160" y="2148840"/>
            <a:ext cx="1874400" cy="1920300"/>
          </a:xfrm>
          <a:prstGeom prst="roundRect">
            <a:avLst>
              <a:gd fmla="val 3902" name="adj"/>
            </a:avLst>
          </a:prstGeom>
          <a:solidFill>
            <a:srgbClr val="EDF1F3"/>
          </a:solidFill>
          <a:ln cap="flat" cmpd="sng" w="9525">
            <a:solidFill>
              <a:srgbClr val="B8C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9427464" y="2295144"/>
            <a:ext cx="158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3D8DFF"/>
                </a:solidFill>
                <a:latin typeface="Calibri"/>
                <a:ea typeface="Calibri"/>
                <a:cs typeface="Calibri"/>
                <a:sym typeface="Calibri"/>
              </a:rPr>
              <a:t>TABLERO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9427464" y="2606040"/>
            <a:ext cx="1581900" cy="13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01820"/>
                </a:solidFill>
                <a:latin typeface="Calibri"/>
                <a:ea typeface="Calibri"/>
                <a:cs typeface="Calibri"/>
                <a:sym typeface="Calibri"/>
              </a:rPr>
              <a:t>Grafana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01820"/>
                </a:solidFill>
                <a:latin typeface="Calibri"/>
                <a:ea typeface="Calibri"/>
                <a:cs typeface="Calibri"/>
                <a:sym typeface="Calibri"/>
              </a:rPr>
              <a:t>mapa, estado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01820"/>
                </a:solidFill>
                <a:latin typeface="Calibri"/>
                <a:ea typeface="Calibri"/>
                <a:cs typeface="Calibri"/>
                <a:sym typeface="Calibri"/>
              </a:rPr>
              <a:t>y gráficos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2395728" y="4206240"/>
            <a:ext cx="2349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D8DFF"/>
                </a:solidFill>
                <a:latin typeface="Calibri"/>
                <a:ea typeface="Calibri"/>
                <a:cs typeface="Calibri"/>
                <a:sym typeface="Calibri"/>
              </a:rPr>
              <a:t>LoRa P2P · 915 MHz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855464" y="4206240"/>
            <a:ext cx="2349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D8DFF"/>
                </a:solidFill>
                <a:latin typeface="Calibri"/>
                <a:ea typeface="Calibri"/>
                <a:cs typeface="Calibri"/>
                <a:sym typeface="Calibri"/>
              </a:rPr>
              <a:t>USB serie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7022592" y="4206240"/>
            <a:ext cx="2349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D8DFF"/>
                </a:solidFill>
                <a:latin typeface="Calibri"/>
                <a:ea typeface="Calibri"/>
                <a:cs typeface="Calibri"/>
                <a:sym typeface="Calibri"/>
              </a:rPr>
              <a:t>MQTT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12648" y="4892040"/>
            <a:ext cx="10972800" cy="1051500"/>
          </a:xfrm>
          <a:prstGeom prst="roundRect">
            <a:avLst>
              <a:gd fmla="val 6957" name="adj"/>
            </a:avLst>
          </a:prstGeom>
          <a:solidFill>
            <a:srgbClr val="101820"/>
          </a:solidFill>
          <a:ln cap="flat" cmpd="sng" w="9525">
            <a:solidFill>
              <a:srgbClr val="1018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914400" y="5029200"/>
            <a:ext cx="10332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 formato de datos común (una línea CSV) une las capas. </a:t>
            </a:r>
            <a:r>
              <a:rPr lang="en-US" sz="1500">
                <a:solidFill>
                  <a:srgbClr val="B8C1C8"/>
                </a:solidFill>
                <a:latin typeface="Calibri"/>
                <a:ea typeface="Calibri"/>
                <a:cs typeface="Calibri"/>
                <a:sym typeface="Calibri"/>
              </a:rPr>
              <a:t>Cada parte se desarrolla y prueba por separado, y se puede reemplazar sin tocar las demás.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jora la diapositiva, hacela mas linda, mas visual, manteniendo la informacion. asi como estopy ahciendo con las anteriores. lo unico, mantene los colores, no uses otra tonalidad q no este en esta diapositva, hace disenios lindos.  disenio creativo. fondo predominantemente blanco. solo 2 filminas no mas.  no saques nada del texto original. NADA DE TEXTO SAQUES. a esta no le pongas tantos dibujos pq hay mucho contenido." id="60" name="Google Shape;60;g3f3a4dbaf43_72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jora la diapositiva, hacela mas linda, mas visual, manteniendo la informacion. asi como estopy ahciendo con las anteriores. lo unico, mantene los colores, no uses otra tonalidad q no este en esta diapositva, hace disenios lindos.  disenio creativo. fondo predominantemente blanco. solo 2 filminas no mas.  no saques nada del texto original. NADA DE TEXTO SAQUES. no le pongas derechos abajo ni nada, no agregues texto q no esta aca" id="65" name="Google Shape;65;g3f3a4dbaf43_72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>
            <a:off x="11045952" y="642823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06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3606B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612648" y="3200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3D8DFF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612648" y="658368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101820"/>
                </a:solidFill>
                <a:latin typeface="Calibri"/>
                <a:ea typeface="Calibri"/>
                <a:cs typeface="Calibri"/>
                <a:sym typeface="Calibri"/>
              </a:rPr>
              <a:t>El collar y la estación base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" name="Google Shape;74;p7"/>
          <p:cNvCxnSpPr/>
          <p:nvPr/>
        </p:nvCxnSpPr>
        <p:spPr>
          <a:xfrm>
            <a:off x="612648" y="1536192"/>
            <a:ext cx="10972800" cy="0"/>
          </a:xfrm>
          <a:prstGeom prst="straightConnector1">
            <a:avLst/>
          </a:prstGeom>
          <a:noFill/>
          <a:ln cap="flat" cmpd="sng" w="12700">
            <a:solidFill>
              <a:srgbClr val="B8C1C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sessions/great-charming-turing/mnt/outputs/deck/img/hardware.jpg" id="75" name="Google Shape;7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8120" y="1783080"/>
            <a:ext cx="3767328" cy="420624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6" name="Google Shape;76;p7"/>
          <p:cNvSpPr/>
          <p:nvPr/>
        </p:nvSpPr>
        <p:spPr>
          <a:xfrm>
            <a:off x="7818120" y="6035040"/>
            <a:ext cx="3767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606B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53606B"/>
                </a:solidFill>
                <a:latin typeface="Calibri"/>
                <a:ea typeface="Calibri"/>
                <a:cs typeface="Calibri"/>
                <a:sym typeface="Calibri"/>
              </a:rPr>
              <a:t>Collar (Heltec V3, arriba con antena) y estación base (LoRa32u4, abajo).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612648" y="1965960"/>
            <a:ext cx="1417320" cy="566928"/>
          </a:xfrm>
          <a:prstGeom prst="rect">
            <a:avLst/>
          </a:prstGeom>
          <a:solidFill>
            <a:srgbClr val="101820"/>
          </a:solidFill>
          <a:ln cap="flat" cmpd="sng" w="9525">
            <a:solidFill>
              <a:srgbClr val="B8C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722376" y="1965960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2029968" y="1965960"/>
            <a:ext cx="2651760" cy="566928"/>
          </a:xfrm>
          <a:prstGeom prst="rect">
            <a:avLst/>
          </a:prstGeom>
          <a:solidFill>
            <a:srgbClr val="101820"/>
          </a:solidFill>
          <a:ln cap="flat" cmpd="sng" w="9525">
            <a:solidFill>
              <a:srgbClr val="B8C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2139696" y="1965960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Componente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4681728" y="1965960"/>
            <a:ext cx="2834640" cy="566928"/>
          </a:xfrm>
          <a:prstGeom prst="rect">
            <a:avLst/>
          </a:prstGeom>
          <a:solidFill>
            <a:srgbClr val="101820"/>
          </a:solidFill>
          <a:ln cap="flat" cmpd="sng" w="9525">
            <a:solidFill>
              <a:srgbClr val="B8C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4791456" y="1965960"/>
            <a:ext cx="2651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Detalle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612648" y="2532888"/>
            <a:ext cx="1417320" cy="566928"/>
          </a:xfrm>
          <a:prstGeom prst="rect">
            <a:avLst/>
          </a:prstGeom>
          <a:solidFill>
            <a:srgbClr val="EDF1F3"/>
          </a:solidFill>
          <a:ln cap="flat" cmpd="sng" w="9525">
            <a:solidFill>
              <a:srgbClr val="B8C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722376" y="2532888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01820"/>
                </a:solidFill>
                <a:latin typeface="Calibri"/>
                <a:ea typeface="Calibri"/>
                <a:cs typeface="Calibri"/>
                <a:sym typeface="Calibri"/>
              </a:rPr>
              <a:t>Collar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2029968" y="2532888"/>
            <a:ext cx="2651760" cy="566928"/>
          </a:xfrm>
          <a:prstGeom prst="rect">
            <a:avLst/>
          </a:prstGeom>
          <a:solidFill>
            <a:srgbClr val="EDF1F3"/>
          </a:solidFill>
          <a:ln cap="flat" cmpd="sng" w="9525">
            <a:solidFill>
              <a:srgbClr val="B8C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2139696" y="2532888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01820"/>
                </a:solidFill>
                <a:latin typeface="Calibri"/>
                <a:ea typeface="Calibri"/>
                <a:cs typeface="Calibri"/>
                <a:sym typeface="Calibri"/>
              </a:rPr>
              <a:t>Heltec WiFi LoRa 32 V3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4681728" y="2532888"/>
            <a:ext cx="2834640" cy="566928"/>
          </a:xfrm>
          <a:prstGeom prst="rect">
            <a:avLst/>
          </a:prstGeom>
          <a:solidFill>
            <a:srgbClr val="EDF1F3"/>
          </a:solidFill>
          <a:ln cap="flat" cmpd="sng" w="9525">
            <a:solidFill>
              <a:srgbClr val="B8C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4791456" y="2532888"/>
            <a:ext cx="2651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01820"/>
                </a:solidFill>
                <a:latin typeface="Calibri"/>
                <a:ea typeface="Calibri"/>
                <a:cs typeface="Calibri"/>
                <a:sym typeface="Calibri"/>
              </a:rPr>
              <a:t>ESP32-S3 · radio SX1262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612648" y="3099816"/>
            <a:ext cx="1417320" cy="566928"/>
          </a:xfrm>
          <a:prstGeom prst="rect">
            <a:avLst/>
          </a:prstGeom>
          <a:solidFill>
            <a:srgbClr val="FBEEDD"/>
          </a:solidFill>
          <a:ln cap="flat" cmpd="sng" w="9525">
            <a:solidFill>
              <a:srgbClr val="B8C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722376" y="3099816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01820"/>
                </a:solidFill>
                <a:latin typeface="Calibri"/>
                <a:ea typeface="Calibri"/>
                <a:cs typeface="Calibri"/>
                <a:sym typeface="Calibri"/>
              </a:rPr>
              <a:t>Posición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2029968" y="3099816"/>
            <a:ext cx="2651760" cy="566928"/>
          </a:xfrm>
          <a:prstGeom prst="rect">
            <a:avLst/>
          </a:prstGeom>
          <a:solidFill>
            <a:srgbClr val="FBEEDD"/>
          </a:solidFill>
          <a:ln cap="flat" cmpd="sng" w="9525">
            <a:solidFill>
              <a:srgbClr val="B8C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2139696" y="3099816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1843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18430"/>
                </a:solidFill>
                <a:latin typeface="Calibri"/>
                <a:ea typeface="Calibri"/>
                <a:cs typeface="Calibri"/>
                <a:sym typeface="Calibri"/>
              </a:rPr>
              <a:t>Simulado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4681728" y="3099816"/>
            <a:ext cx="2834640" cy="566928"/>
          </a:xfrm>
          <a:prstGeom prst="rect">
            <a:avLst/>
          </a:prstGeom>
          <a:solidFill>
            <a:srgbClr val="FBEEDD"/>
          </a:solidFill>
          <a:ln cap="flat" cmpd="sng" w="9525">
            <a:solidFill>
              <a:srgbClr val="B8C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4791456" y="3099816"/>
            <a:ext cx="2651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01820"/>
                </a:solidFill>
                <a:latin typeface="Calibri"/>
                <a:ea typeface="Calibri"/>
                <a:cs typeface="Calibri"/>
                <a:sym typeface="Calibri"/>
              </a:rPr>
              <a:t>Latitud, longitud y satélites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612648" y="3666744"/>
            <a:ext cx="1417320" cy="566928"/>
          </a:xfrm>
          <a:prstGeom prst="rect">
            <a:avLst/>
          </a:prstGeom>
          <a:solidFill>
            <a:srgbClr val="FBEEDD"/>
          </a:solidFill>
          <a:ln cap="flat" cmpd="sng" w="9525">
            <a:solidFill>
              <a:srgbClr val="B8C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722376" y="3666744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01820"/>
                </a:solidFill>
                <a:latin typeface="Calibri"/>
                <a:ea typeface="Calibri"/>
                <a:cs typeface="Calibri"/>
                <a:sym typeface="Calibri"/>
              </a:rPr>
              <a:t>Actividad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2029968" y="3666744"/>
            <a:ext cx="2651760" cy="566928"/>
          </a:xfrm>
          <a:prstGeom prst="rect">
            <a:avLst/>
          </a:prstGeom>
          <a:solidFill>
            <a:srgbClr val="FBEEDD"/>
          </a:solidFill>
          <a:ln cap="flat" cmpd="sng" w="9525">
            <a:solidFill>
              <a:srgbClr val="B8C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2139696" y="3666744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1843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18430"/>
                </a:solidFill>
                <a:latin typeface="Calibri"/>
                <a:ea typeface="Calibri"/>
                <a:cs typeface="Calibri"/>
                <a:sym typeface="Calibri"/>
              </a:rPr>
              <a:t>Simulado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4681728" y="3666744"/>
            <a:ext cx="2834640" cy="566928"/>
          </a:xfrm>
          <a:prstGeom prst="rect">
            <a:avLst/>
          </a:prstGeom>
          <a:solidFill>
            <a:srgbClr val="FBEEDD"/>
          </a:solidFill>
          <a:ln cap="flat" cmpd="sng" w="9525">
            <a:solidFill>
              <a:srgbClr val="B8C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4791456" y="3666744"/>
            <a:ext cx="2651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01820"/>
                </a:solidFill>
                <a:latin typeface="Calibri"/>
                <a:ea typeface="Calibri"/>
                <a:cs typeface="Calibri"/>
                <a:sym typeface="Calibri"/>
              </a:rPr>
              <a:t>Aceleración en 3 ejes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612648" y="4233672"/>
            <a:ext cx="1417320" cy="566928"/>
          </a:xfrm>
          <a:prstGeom prst="rect">
            <a:avLst/>
          </a:prstGeom>
          <a:solidFill>
            <a:srgbClr val="FBEEDD"/>
          </a:solidFill>
          <a:ln cap="flat" cmpd="sng" w="9525">
            <a:solidFill>
              <a:srgbClr val="B8C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722376" y="4233672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01820"/>
                </a:solidFill>
                <a:latin typeface="Calibri"/>
                <a:ea typeface="Calibri"/>
                <a:cs typeface="Calibri"/>
                <a:sym typeface="Calibri"/>
              </a:rPr>
              <a:t>Temperatura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2029968" y="4233672"/>
            <a:ext cx="2651760" cy="566928"/>
          </a:xfrm>
          <a:prstGeom prst="rect">
            <a:avLst/>
          </a:prstGeom>
          <a:solidFill>
            <a:srgbClr val="FBEEDD"/>
          </a:solidFill>
          <a:ln cap="flat" cmpd="sng" w="9525">
            <a:solidFill>
              <a:srgbClr val="B8C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2139696" y="4233672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1843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18430"/>
                </a:solidFill>
                <a:latin typeface="Calibri"/>
                <a:ea typeface="Calibri"/>
                <a:cs typeface="Calibri"/>
                <a:sym typeface="Calibri"/>
              </a:rPr>
              <a:t>Simulado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4681728" y="4233672"/>
            <a:ext cx="2834640" cy="566928"/>
          </a:xfrm>
          <a:prstGeom prst="rect">
            <a:avLst/>
          </a:prstGeom>
          <a:solidFill>
            <a:srgbClr val="FBEEDD"/>
          </a:solidFill>
          <a:ln cap="flat" cmpd="sng" w="9525">
            <a:solidFill>
              <a:srgbClr val="B8C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4791456" y="4233672"/>
            <a:ext cx="2651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01820"/>
                </a:solidFill>
                <a:latin typeface="Calibri"/>
                <a:ea typeface="Calibri"/>
                <a:cs typeface="Calibri"/>
                <a:sym typeface="Calibri"/>
              </a:rPr>
              <a:t>Temperatura corporal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612648" y="4800600"/>
            <a:ext cx="1417320" cy="566928"/>
          </a:xfrm>
          <a:prstGeom prst="rect">
            <a:avLst/>
          </a:prstGeom>
          <a:solidFill>
            <a:srgbClr val="EDF1F3"/>
          </a:solidFill>
          <a:ln cap="flat" cmpd="sng" w="9525">
            <a:solidFill>
              <a:srgbClr val="B8C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722376" y="4800600"/>
            <a:ext cx="1234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01820"/>
                </a:solidFill>
                <a:latin typeface="Calibri"/>
                <a:ea typeface="Calibri"/>
                <a:cs typeface="Calibri"/>
                <a:sym typeface="Calibri"/>
              </a:rPr>
              <a:t>Base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2029968" y="4800600"/>
            <a:ext cx="2651760" cy="566928"/>
          </a:xfrm>
          <a:prstGeom prst="rect">
            <a:avLst/>
          </a:prstGeom>
          <a:solidFill>
            <a:srgbClr val="EDF1F3"/>
          </a:solidFill>
          <a:ln cap="flat" cmpd="sng" w="9525">
            <a:solidFill>
              <a:srgbClr val="B8C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2139696" y="4800600"/>
            <a:ext cx="2468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01820"/>
                </a:solidFill>
                <a:latin typeface="Calibri"/>
                <a:ea typeface="Calibri"/>
                <a:cs typeface="Calibri"/>
                <a:sym typeface="Calibri"/>
              </a:rPr>
              <a:t>BSFrance LoRa32u4 II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681728" y="4800600"/>
            <a:ext cx="2834640" cy="566928"/>
          </a:xfrm>
          <a:prstGeom prst="rect">
            <a:avLst/>
          </a:prstGeom>
          <a:solidFill>
            <a:srgbClr val="EDF1F3"/>
          </a:solidFill>
          <a:ln cap="flat" cmpd="sng" w="9525">
            <a:solidFill>
              <a:srgbClr val="B8C1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4791456" y="4800600"/>
            <a:ext cx="2651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01820"/>
                </a:solidFill>
                <a:latin typeface="Calibri"/>
                <a:ea typeface="Calibri"/>
                <a:cs typeface="Calibri"/>
                <a:sym typeface="Calibri"/>
              </a:rPr>
              <a:t>ATmega32u4 · radio SX1276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612648" y="5504688"/>
            <a:ext cx="6903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1843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E18430"/>
                </a:solidFill>
                <a:latin typeface="Calibri"/>
                <a:ea typeface="Calibri"/>
                <a:cs typeface="Calibri"/>
                <a:sym typeface="Calibri"/>
              </a:rPr>
              <a:t>Los tres sensores del collar se generan por software en esta entrega.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jora la diapositiva, hacela mas linda, mas visual, manteniendo la informacion. asi como estopy ahciendo con las anteriores. lo unico, mantene los colores, no uses otra tonalidad q no este en esta diapositva, hace disenios lindos.  disenio creativo." id="118" name="Google Shape;118;g3f3a4dbaf43_7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jora la diapositiva, hacela mas linda, mas visual, manteniendo la informacion. asi como estopy ahciendo con las anteriores. lo unico, mantene los colores, no uses otra tonalidad q no este en esta diapositva, hace disenios lindos.  disenio creativo. fondo predominantemente blanco." id="123" name="Google Shape;123;g3f3a4dbaf43_72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g3f3a4dbaf43_72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7625" y="0"/>
            <a:ext cx="12287250" cy="6863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jora la diapositiva, hacela mas linda, mas visual, manteniendo la informacion. asi como estopy ahciendo con las anteriores. lo unico, mantene los colores, no uses otra tonalidad q no este en esta diapositva, hace disenios lindos.  disenio creativo. fondo predominantemente blanco. solo 2 filminas no mas.  no saques nada del texto original. NADA DE TEXTO SAQUES." id="133" name="Google Shape;133;g3f3a4dbaf43_72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/>
          <p:nvPr/>
        </p:nvSpPr>
        <p:spPr>
          <a:xfrm>
            <a:off x="11045952" y="642823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06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3606B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2"/>
          <p:cNvSpPr/>
          <p:nvPr/>
        </p:nvSpPr>
        <p:spPr>
          <a:xfrm>
            <a:off x="612648" y="3200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8D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3D8DFF"/>
                </a:solidFill>
                <a:latin typeface="Calibri"/>
                <a:ea typeface="Calibri"/>
                <a:cs typeface="Calibri"/>
                <a:sym typeface="Calibri"/>
              </a:rPr>
              <a:t>RESULTADOS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2"/>
          <p:cNvSpPr/>
          <p:nvPr/>
        </p:nvSpPr>
        <p:spPr>
          <a:xfrm>
            <a:off x="612648" y="658368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101820"/>
                </a:solidFill>
                <a:latin typeface="Calibri"/>
                <a:ea typeface="Calibri"/>
                <a:cs typeface="Calibri"/>
                <a:sym typeface="Calibri"/>
              </a:rPr>
              <a:t>El tablero refleja el cambio de estado de punta a punta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12"/>
          <p:cNvCxnSpPr/>
          <p:nvPr/>
        </p:nvCxnSpPr>
        <p:spPr>
          <a:xfrm>
            <a:off x="612648" y="1536192"/>
            <a:ext cx="10972800" cy="0"/>
          </a:xfrm>
          <a:prstGeom prst="straightConnector1">
            <a:avLst/>
          </a:prstGeom>
          <a:noFill/>
          <a:ln cap="flat" cmpd="sng" w="12700">
            <a:solidFill>
              <a:srgbClr val="B8C1C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sessions/great-charming-turing/mnt/outputs/deck/img/dash_ok.jpg" id="143" name="Google Shape;14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648" y="1874520"/>
            <a:ext cx="5212080" cy="3246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sessions/great-charming-turing/mnt/outputs/deck/img/dash_alerta.jpg" id="144" name="Google Shape;14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3368" y="1874520"/>
            <a:ext cx="5212080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2"/>
          <p:cNvSpPr/>
          <p:nvPr/>
        </p:nvSpPr>
        <p:spPr>
          <a:xfrm>
            <a:off x="612648" y="5230368"/>
            <a:ext cx="5212080" cy="502920"/>
          </a:xfrm>
          <a:prstGeom prst="roundRect">
            <a:avLst>
              <a:gd fmla="val 9091" name="adj"/>
            </a:avLst>
          </a:prstGeom>
          <a:solidFill>
            <a:srgbClr val="5EA8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2"/>
          <p:cNvSpPr/>
          <p:nvPr/>
        </p:nvSpPr>
        <p:spPr>
          <a:xfrm>
            <a:off x="612648" y="5230368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  ·  38,3 °C  ·  19 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2"/>
          <p:cNvSpPr/>
          <p:nvPr/>
        </p:nvSpPr>
        <p:spPr>
          <a:xfrm>
            <a:off x="6373368" y="5230368"/>
            <a:ext cx="5212080" cy="502920"/>
          </a:xfrm>
          <a:prstGeom prst="roundRect">
            <a:avLst>
              <a:gd fmla="val 9091" name="adj"/>
            </a:avLst>
          </a:prstGeom>
          <a:solidFill>
            <a:srgbClr val="D83A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"/>
          <p:cNvSpPr/>
          <p:nvPr/>
        </p:nvSpPr>
        <p:spPr>
          <a:xfrm>
            <a:off x="6373368" y="5230368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ALERTA  ·  40,5 °C  ·  799 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jora la diapositiva, hacela mas linda, mas visual, manteniendo la informacion. asi como estopy ahciendo con las anteriores. lo unico, mantene los colores, no uses otra tonalidad q no este en esta diapositva, hace disenios lindos.  disenio creativo. fondo predominantemente blanco. solo 2 filminas no mas.  no saques nada del texto original. NADA DE TEXTO SAQUES." id="153" name="Google Shape;153;g3f3a4dbaf43_72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ejora la diapositiva, hacela mas linda, mas visual, manteniendo la informacion. asi como estopy ahciendo con las anteriores. lo unico, mantene los colores, no uses otra tonalidad q no este en esta diapositva, hace disenios lindos.  disenio creativo. fondo predominantemente blanco. solo 2 filminas no mas.  no saques nada del texto original. NADA DE TEXTO SAQUES. no me cambies el texto, tiene que decir lo mismo que dice esta filmina" id="158" name="Google Shape;158;g3f3a4dbaf43_72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2026-07-14T01:06:18Z</dcterms:created>
  <dc:creator>Daskus · Muñoz · Franco</dc:creator>
</cp:coreProperties>
</file>